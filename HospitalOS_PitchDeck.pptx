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00849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0849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0849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Georgia"/>
              </a:defRPr>
            </a:pPr>
            <a:r>
              <a:t>HOSPITALOS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D4AA"/>
                </a:solidFill>
                <a:latin typeface="Georgia"/>
              </a:defRPr>
            </a:pPr>
            <a:r>
              <a:t>India's First AI-Native, Tally-Native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D4AA"/>
                </a:solidFill>
                <a:latin typeface="Georgia"/>
              </a:defRPr>
            </a:pPr>
            <a:r>
              <a:t>Hospital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BBC5D5"/>
                </a:solidFill>
                <a:latin typeface="Calibri"/>
              </a:defRPr>
            </a:pPr>
            <a:r>
              <a:t>From 50 beds to 5,000 beds. One platform. Every department.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849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A95A8"/>
                </a:solidFill>
                <a:latin typeface="Calibri"/>
              </a:defRPr>
            </a:pPr>
            <a:r>
              <a:t>Confidential  |  For Hospital Decision-Makers  |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Hospitals Run on Broken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383280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194560"/>
            <a:ext cx="457200" cy="45720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Two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Every hospital runs an HMS for operations and Tally for accounting. Reconciled manually, every month, by an army of accountants.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383280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194560"/>
            <a:ext cx="457200" cy="45720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945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8-12%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97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Revenue leakage from missed charges, unbilled services, and billing errors. The industry average. Silently bleeding money.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38328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3383280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20" y="2194560"/>
            <a:ext cx="457200" cy="45720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1945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Doctors Hate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97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Clunky 2010-era forms. No AI. No voice. No mobile. Doctors bypass the EMR and write on paper.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338328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3383280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4480559"/>
            <a:ext cx="457200" cy="45720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8055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3-6 Week 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8347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Month-end financial closing takes 3-6 weeks instead of 3-5 days. CFOs don't trust their own numbers.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206240"/>
            <a:ext cx="338328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206240"/>
            <a:ext cx="3383280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17720" y="4480559"/>
            <a:ext cx="457200" cy="45720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48055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No ABDM/ABHA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98347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ABDM integration is half-built or missing. Hospitals are not ready for India's digital health mandate.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206240"/>
            <a:ext cx="338328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206240"/>
            <a:ext cx="3383280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5320" y="4480559"/>
            <a:ext cx="457200" cy="457200"/>
          </a:xfrm>
          <a:prstGeom prst="ellipse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48055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Data Silos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98347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Lab, pharmacy, IPD, finance — all disconnected. No single patient view. No single financial 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One Platform. Every Department.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383280" cy="5486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2194560"/>
            <a:ext cx="822960" cy="822960"/>
          </a:xfrm>
          <a:prstGeom prst="ellipse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Win the Doctor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200" b="0" i="0">
                <a:solidFill>
                  <a:srgbClr val="BBC5D5"/>
                </a:solidFill>
                <a:latin typeface="Calibri"/>
              </a:defRPr>
            </a:pPr>
            <a:r>
              <a:t>AI scribing, sub-3-click consultation, mobile EMR, specialty templates, drug interaction alerts, voice-driven SOAP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383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23560" y="2194560"/>
            <a:ext cx="822960" cy="8229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46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Win the CFO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947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200" b="0" i="0">
                <a:solidFill>
                  <a:srgbClr val="BBC5D5"/>
                </a:solidFill>
                <a:latin typeface="Calibri"/>
              </a:defRPr>
            </a:pPr>
            <a:r>
              <a:t>Real double-entry accounting, native Tally Prime sync, hospital KPIs, 3-day month-end close, GST/TDS compliance, RCM pipeline.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60" y="219456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46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Win the 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947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200" b="0" i="0">
                <a:solidFill>
                  <a:srgbClr val="BBC5D5"/>
                </a:solidFill>
                <a:latin typeface="Calibri"/>
              </a:defRPr>
            </a:pPr>
            <a:r>
              <a:t>ABDM-native, HL7 FHIR R4, multi-branch, multi-tenant, 99.95% SLA, NABH-ready, HIPAA/GDPR/DPDP compliant.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  <a:latin typeface="Calibri"/>
              </a:defRPr>
            </a:pPr>
            <a:r>
              <a:t>COMPLETE HOSPITAL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10 Core Modules — One Integrated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10312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920240"/>
            <a:ext cx="411480" cy="411480"/>
          </a:xfrm>
          <a:prstGeom prst="ellipse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Patient Mgmt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MPI, ABHA, duplicate detection, patient 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73736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737360"/>
            <a:ext cx="210312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71800" y="192024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920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OPD &amp; Scheduling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Queue, tokens, no-show ML, telehealth, AI triage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73736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737360"/>
            <a:ext cx="21031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57800" y="192024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920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IPD &amp; Bed Mgmt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Admission, bed matrix, nursing, ward rounds, discharge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73736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1737360"/>
            <a:ext cx="21031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3800" y="192024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1920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EMR &amp; 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AI scribing, SOAP, ICD-10, SNOMED, e-prescription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173736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2640" y="1737360"/>
            <a:ext cx="21031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29800" y="192024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920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19" y="19385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Lab (LIMS)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Analyzer interface, barcode, QC, LOINC, critical alerts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0624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06240"/>
            <a:ext cx="210312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389120"/>
            <a:ext cx="411480" cy="411480"/>
          </a:xfrm>
          <a:prstGeom prst="ellipse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389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19" y="4407407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Pharmacy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937759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FIFO/FEFO, narcotic register, CPOE, batch tracking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34640" y="420624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34640" y="4206240"/>
            <a:ext cx="210312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71800" y="438912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4389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407407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Billing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4937759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Multi-tariff, packages, TPA workflow, GST/TDS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0640" y="420624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120640" y="4206240"/>
            <a:ext cx="21031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57800" y="43891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57800" y="4389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4407407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Inventory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937759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Three-way match, implant tracking, CMMS, ABC analysis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06640" y="420624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06640" y="4206240"/>
            <a:ext cx="21031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543800" y="438912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43800" y="4389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19" y="4407407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Finance &amp; Tally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4937759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Double-entry GL, AP/AR, cost centers, Tally sync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92640" y="4206240"/>
            <a:ext cx="210312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0" y="4206240"/>
            <a:ext cx="21031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829800" y="438912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29800" y="4389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2719" y="4407407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HR &amp; Payroll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800" y="4937759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Shifts, PF/ESI, credentialing, doctor incentives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  <a:latin typeface="Calibri"/>
              </a:defRPr>
            </a:pPr>
            <a:r>
              <a:t>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Why Incumbents Lose — And We 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6400800" cy="91440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" cy="91440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Birlamedisoft / Akhil / Napier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Aging Windows stack, no AI, weak Tally sync, no 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6400800" cy="91440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54864" cy="91440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MocDoc / Insta / Practo 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Clinic-grade — breaks at multi-branch, IPD, OT, real accounting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6400800" cy="91440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4864" cy="91440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Epic / Cerner (Oracle Health)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₹50-500Cr+ price, multi-year deploy, no Indian 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79"/>
            <a:ext cx="6400800" cy="91440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983479"/>
            <a:ext cx="54864" cy="91440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InterSystems TrakCare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Enterprise but expensive, slow to deploy, no ABDM or Tally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28800"/>
            <a:ext cx="4114800" cy="4206240"/>
          </a:xfrm>
          <a:prstGeom prst="round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Georgia"/>
              </a:defRPr>
            </a:pPr>
            <a:r>
              <a:t>HospitalOS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  AI-native EMR with voice scribing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  Real double-entry accounting built-in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383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  Native bi-directional Tally Prime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  ABDM / ABHA from day 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  HL7 FHIR R4 interoperability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  Multi-branch, 10,000+ OPD/day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  Cloud-native, deploy in weeks not years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440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  ₹10-50L/year — 10x cheaper than global ERPs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  <a:latin typeface="Calibri"/>
              </a:defRPr>
            </a:pPr>
            <a:r>
              <a:t>THE CFO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Finance That Works — With Tally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38912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572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86A1F"/>
                </a:solidFill>
                <a:latin typeface="Georgia"/>
              </a:defRPr>
            </a:pPr>
            <a:r>
              <a:t>TODAY (Industry Status Quo)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5"/>
                </a:solidFill>
                <a:latin typeface="Calibri"/>
              </a:defRPr>
            </a:pPr>
            <a:r>
              <a:t>✕  HMS for operations + Tally for accounting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5"/>
                </a:solidFill>
                <a:latin typeface="Calibri"/>
              </a:defRPr>
            </a:pPr>
            <a:r>
              <a:t>✕  Manual reconciliation, every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5"/>
                </a:solidFill>
                <a:latin typeface="Calibri"/>
              </a:defRPr>
            </a:pPr>
            <a:r>
              <a:t>✕  3-8 accountants per branch for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5"/>
                </a:solidFill>
                <a:latin typeface="Calibri"/>
              </a:defRPr>
            </a:pPr>
            <a:r>
              <a:t>✕  Month-end close: 3-6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5"/>
                </a:solidFill>
                <a:latin typeface="Calibri"/>
              </a:defRPr>
            </a:pPr>
            <a:r>
              <a:t>✕  Revenue leakage: 8-12%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5"/>
                </a:solidFill>
                <a:latin typeface="Calibri"/>
              </a:defRPr>
            </a:pPr>
            <a:r>
              <a:t>✕  CFO doesn't trust the numbers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530352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D4AA"/>
                </a:solidFill>
                <a:latin typeface="Georgia"/>
              </a:defRPr>
            </a:pPr>
            <a:r>
              <a:t>WITH HOSPITALOS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✓  Real double-entry GL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Chart of Accounts, AP/AR, cost centers, trial balance, P&amp;L, balance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186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✓  Native Tally Prime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XML/JSON gateway, ODBC, TDL — bi-directional, real-time, idempotent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✓  3-day month-end 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2428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Automated day-end/month-end checklists, accruals, depreciation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183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✓  Hospital KPI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926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NPR, RevPAB, EBITDA, AR Days, bed occupancy, doctor 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4681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✓  GST + TDS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7424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BC5D5"/>
                </a:solidFill>
                <a:latin typeface="Calibri"/>
              </a:defRPr>
            </a:pPr>
            <a:r>
              <a:t>Healthcare exemption logic, Sec 194J, room rent &gt;₹5000 exception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  <a:latin typeface="Calibri"/>
              </a:defRPr>
            </a:pPr>
            <a:r>
              <a:t>AI-NATIVE CLINICAL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Built-In AI — Not Bolted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AI Clinical Scribing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Doctor speaks during consultation. AI generates the SOAP note. Doctor reviews and signs. Saves 15-20 min per consultation.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210312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Smart ICD-10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NLP extracts diagnoses from free-text notes and suggests ICD-10 codes. Improves billing accuracy by 40-60%.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210312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383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AI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Patient symptoms analyzed by AI to recommend urgency level, department, and possible conditions. Already built and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3383280" cy="210312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3383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No-Show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ML model predicts which patients won't show up. Auto-overbooks high-risk slots. Recovers 12-18% of lost slots.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206240"/>
            <a:ext cx="3383280" cy="210312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206240"/>
            <a:ext cx="338328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389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Sepsis Early 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46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AI monitors vitals + lab trends. Alerts 24-48 hours before clinical sepsis onset. AUC &gt; 0.85.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206240"/>
            <a:ext cx="3383280" cy="210312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420624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389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AI Discharge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46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Auto-generates discharge summary from ward round notes, lab results, and medications. Doctor reviews in 5 minutes.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The Numbers Speak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008496"/>
                </a:solidFill>
                <a:latin typeface="Georgia"/>
              </a:defRPr>
            </a:pPr>
            <a:r>
              <a:t>$12.89B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Indian HMS market by 2030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56032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56032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00D4AA"/>
                </a:solidFill>
                <a:latin typeface="Georgia"/>
              </a:defRPr>
            </a:pPr>
            <a:r>
              <a:t>21.3%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CAGR — fastest growing</a:t>
            </a:r>
            <a:br/>
            <a:r>
              <a:t>healthcare IT segment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56032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5603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3B82F6"/>
                </a:solidFill>
                <a:latin typeface="Georgia"/>
              </a:defRPr>
            </a:pPr>
            <a:r>
              <a:t>70,000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Hospitals in India</a:t>
            </a:r>
            <a:br/>
            <a:r>
              <a:t>Most on outdated 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560320" cy="201168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25603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8B5CF6"/>
                </a:solidFill>
                <a:latin typeface="Georgia"/>
              </a:defRPr>
            </a:pPr>
            <a:r>
              <a:t>1,299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NABH accredited</a:t>
            </a:r>
            <a:br/>
            <a:r>
              <a:t>(only 1.9% of hospitals)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338328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3383280" cy="5486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480559"/>
            <a:ext cx="457200" cy="457200"/>
          </a:xfrm>
          <a:prstGeom prst="ellipse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8055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Hospital Chain Consolidation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83479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Apollo, Fortis, Manipal, Max, Aster, Narayana — fewer, larger buyers who need modern HMS. Enterprise deals worth ₹50L-5Cr/year.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206240"/>
            <a:ext cx="338328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206240"/>
            <a:ext cx="3383280" cy="5486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17720" y="4480559"/>
            <a:ext cx="457200" cy="457200"/>
          </a:xfrm>
          <a:prstGeom prst="ellipse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48055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ABDM Mandate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983479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1.59 lakh ABDM-enabled facilities and growing. Government pushing digital health. ABHA-native HMS will become a compliance requirement.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206240"/>
            <a:ext cx="3383280" cy="219456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4206240"/>
            <a:ext cx="3383280" cy="5486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5320" y="4480559"/>
            <a:ext cx="457200" cy="457200"/>
          </a:xfrm>
          <a:prstGeom prst="ellipse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48055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HMS Replacement Cycle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983479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Most hospitals are 5-10 years into their current HMS contract. Replacement cycles are starting. Timing is perfect for a modern entrant.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D4AA"/>
                </a:solidFill>
                <a:latin typeface="Calibri"/>
              </a:defRPr>
            </a:pPr>
            <a:r>
              <a:t>BUILT FOR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Enterprise-Grade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57200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4864" cy="457200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D4A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Next.js 15, React 19, TailwindCSS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70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D4A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706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Node.js 18+, Server Actions, API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552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D4A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2552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PostgreSQL via Prisma ORM, Supabase Realtime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39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D4AA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398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OpenAI GPT-4 for scribing, triage, coding, summaries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24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D4AA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224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Razorpay — UPI, cards, NEFT, wallets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D4AA"/>
                </a:solidFill>
                <a:latin typeface="Calibri"/>
              </a:defRPr>
            </a:pPr>
            <a:r>
              <a:t>Messaging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WhatsApp Business API + Email + 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93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D4AA"/>
                </a:solidFill>
                <a:latin typeface="Calibri"/>
              </a:defRPr>
            </a:pPr>
            <a:r>
              <a:t>Interop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193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HL7 FHIR R4, ABDM/ABHA, DICOM, ICD-10, SNOMED CT, LOINC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784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D4AA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6784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NABH, HIPAA, GDPR, DPDP Act, IND-AS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Scale Targets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286000"/>
            <a:ext cx="2286000" cy="123444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286000"/>
            <a:ext cx="228600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8496"/>
                </a:solidFill>
                <a:latin typeface="Georgia"/>
              </a:defRPr>
            </a:pPr>
            <a:r>
              <a:t>10,000+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OPD/day per branch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2286000"/>
            <a:ext cx="2286000" cy="123444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8240" y="2286000"/>
            <a:ext cx="228600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468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8496"/>
                </a:solidFill>
                <a:latin typeface="Georgia"/>
              </a:defRPr>
            </a:pPr>
            <a:r>
              <a:t>1,000+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IPD beds per branch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749039"/>
            <a:ext cx="2286000" cy="123444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749039"/>
            <a:ext cx="228600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8496"/>
                </a:solidFill>
                <a:latin typeface="Georgia"/>
              </a:defRPr>
            </a:pPr>
            <a:r>
              <a:t>70+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526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Branches in a chain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3749039"/>
            <a:ext cx="2286000" cy="123444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78240" y="3749039"/>
            <a:ext cx="228600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8496"/>
                </a:solidFill>
                <a:latin typeface="Georgia"/>
              </a:defRPr>
            </a:pPr>
            <a:r>
              <a:t>50,000+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526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Concurrent users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212080"/>
            <a:ext cx="2286000" cy="123444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212080"/>
            <a:ext cx="228600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394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8496"/>
                </a:solidFill>
                <a:latin typeface="Georgia"/>
              </a:defRPr>
            </a:pPr>
            <a:r>
              <a:t>99.95%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Uptime SLA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5212080"/>
            <a:ext cx="2286000" cy="123444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78240" y="5212080"/>
            <a:ext cx="2286000" cy="4572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5394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8496"/>
                </a:solidFill>
                <a:latin typeface="Georgia"/>
              </a:defRPr>
            </a:pPr>
            <a:r>
              <a:t>&lt;200ms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BC5D5"/>
                </a:solidFill>
                <a:latin typeface="Calibri"/>
              </a:defRPr>
            </a:pPr>
            <a:r>
              <a:t>API response p95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00849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0849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HOSPITALOS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D4AA"/>
                </a:solidFill>
                <a:latin typeface="Georgia"/>
              </a:defRPr>
            </a:pPr>
            <a:r>
              <a:t>Ready to see it in action?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200400"/>
            <a:ext cx="5790895" cy="1371600"/>
          </a:xfrm>
          <a:prstGeom prst="round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333756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Georgia"/>
              </a:defRPr>
            </a:pPr>
            <a:r>
              <a:t>Schedule a 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886200"/>
            <a:ext cx="5790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We'll set up HospitalOS with your departments, doctors,</a:t>
            </a:r>
            <a:br/>
            <a:r>
              <a:t>and workflows — live in 60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937760"/>
            <a:ext cx="6705295" cy="1005840"/>
          </a:xfrm>
          <a:prstGeom prst="round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0292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Parikshit Kaushal  |  Team Lead, Agentic AI &amp; Web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440680"/>
            <a:ext cx="6705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00D4AA"/>
                </a:solidFill>
                <a:latin typeface="Calibri"/>
              </a:defRPr>
            </a:pPr>
            <a:r>
              <a:t>parikshitkaushal0712@gmail.com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849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A95A8"/>
                </a:solidFill>
                <a:latin typeface="Calibri"/>
              </a:defRPr>
            </a:pPr>
            <a:r>
              <a:t>Confidential  |  HospitalOS  |  April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95A8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